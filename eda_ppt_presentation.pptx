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EDA" id="{f094147c-07f0-8e1f-90ce-0e16a71c4eea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F3D5E"/>
                </a:solidFill>
                <a:latin typeface="+mn-lt"/>
              </a:defRPr>
            </a:pPr>
            <a:r>
              <a:rPr sz="1100" b="0" i="0" u="none" strike="noStrike">
                <a:solidFill>
                  <a:srgbClr val="0F3D5E"/>
                </a:solidFill>
                <a:latin typeface="+mn-lt"/>
              </a:rPr>
              <a:t>Units sold: top 5 and bottom 5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Units</c:v>
                </c:pt>
              </c:strCache>
            </c:strRef>
          </c:tx>
          <c:spPr>
            <a:solidFill>
              <a:srgbClr val="0F766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Rice</c:v>
                  </c:pt>
                  <c:pt idx="1">
                    <c:v>Jeans</c:v>
                  </c:pt>
                  <c:pt idx="2">
                    <c:v>Office Chair</c:v>
                  </c:pt>
                  <c:pt idx="3">
                    <c:v>Tea</c:v>
                  </c:pt>
                  <c:pt idx="4">
                    <c:v>Washing Machine</c:v>
                  </c:pt>
                  <c:pt idx="5">
                    <c:v>Bookshelf</c:v>
                  </c:pt>
                  <c:pt idx="6">
                    <c:v>Laptop</c:v>
                  </c:pt>
                  <c:pt idx="7">
                    <c:v>Microwave</c:v>
                  </c:pt>
                  <c:pt idx="8">
                    <c:v>Tablet</c:v>
                  </c:pt>
                  <c:pt idx="9">
                    <c:v>Jacket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306</c:v>
                </c:pt>
                <c:pt idx="1">
                  <c:v>294</c:v>
                </c:pt>
                <c:pt idx="2">
                  <c:v>268</c:v>
                </c:pt>
                <c:pt idx="3">
                  <c:v>267</c:v>
                </c:pt>
                <c:pt idx="4">
                  <c:v>255</c:v>
                </c:pt>
                <c:pt idx="5">
                  <c:v>157</c:v>
                </c:pt>
                <c:pt idx="6">
                  <c:v>135</c:v>
                </c:pt>
                <c:pt idx="7">
                  <c:v>132</c:v>
                </c:pt>
                <c:pt idx="8">
                  <c:v>130</c:v>
                </c:pt>
                <c:pt idx="9">
                  <c:v>129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8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/>
          <p:cNvSpPr/>
          <p:nvPr/>
        </p:nvSpPr>
        <p:spPr>
          <a:xfrm>
            <a:off x="640080" y="1417320"/>
            <a:ext cx="822960" cy="73152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164592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Retail Sales Data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3774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1"/>
                </a:solidFill>
              </a:rPr>
              <a:t>Exploratory Data Analysis: step by step with pandas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2004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1,000 orders  |  January to December 2025  |  9 fields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EDA workflow: the 10 steps</a:t>
            </a:r>
            <a:endParaRPr lang="en-US" sz="2200" dirty="0"/>
          </a:p>
        </p:txBody>
      </p:sp>
      <p:sp>
        <p:nvSpPr>
          <p:cNvPr id="3" name="Step 1"/>
          <p:cNvSpPr/>
          <p:nvPr/>
        </p:nvSpPr>
        <p:spPr>
          <a:xfrm>
            <a:off x="457200" y="1005840"/>
            <a:ext cx="4023360" cy="621792"/>
          </a:xfrm>
          <a:prstGeom prst="rect">
            <a:avLst/>
          </a:prstGeom>
          <a:solidFill>
            <a:schemeClr val="bg1"/>
          </a:solidFill>
          <a:ln w="9525">
            <a:solidFill>
              <a:srgbClr val="D9E1E8"/>
            </a:solidFill>
            <a:prstDash val="solid"/>
          </a:ln>
        </p:spPr>
      </p:sp>
      <p:sp>
        <p:nvSpPr>
          <p:cNvPr id="4" name="Number 1"/>
          <p:cNvSpPr/>
          <p:nvPr/>
        </p:nvSpPr>
        <p:spPr>
          <a:xfrm>
            <a:off x="566928" y="1133856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928" y="11338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1097280"/>
            <a:ext cx="3337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Import libraries and load data</a:t>
            </a:r>
            <a:endParaRPr lang="en-US" sz="1250" dirty="0"/>
          </a:p>
        </p:txBody>
      </p:sp>
      <p:sp>
        <p:nvSpPr>
          <p:cNvPr id="7" name="Step 2"/>
          <p:cNvSpPr/>
          <p:nvPr/>
        </p:nvSpPr>
        <p:spPr>
          <a:xfrm>
            <a:off x="4663440" y="1005840"/>
            <a:ext cx="4023360" cy="621792"/>
          </a:xfrm>
          <a:prstGeom prst="rect">
            <a:avLst/>
          </a:prstGeom>
          <a:solidFill>
            <a:schemeClr val="bg1"/>
          </a:solidFill>
          <a:ln w="9525">
            <a:solidFill>
              <a:srgbClr val="D9E1E8"/>
            </a:solidFill>
            <a:prstDash val="solid"/>
          </a:ln>
        </p:spPr>
      </p:sp>
      <p:sp>
        <p:nvSpPr>
          <p:cNvPr id="8" name="Number 2"/>
          <p:cNvSpPr/>
          <p:nvPr/>
        </p:nvSpPr>
        <p:spPr>
          <a:xfrm>
            <a:off x="4773168" y="1133856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773168" y="11338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257800" y="1097280"/>
            <a:ext cx="3337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Understand the data (head, info, describe)</a:t>
            </a:r>
            <a:endParaRPr lang="en-US" sz="1250" dirty="0"/>
          </a:p>
        </p:txBody>
      </p:sp>
      <p:sp>
        <p:nvSpPr>
          <p:cNvPr id="11" name="Step 3"/>
          <p:cNvSpPr/>
          <p:nvPr/>
        </p:nvSpPr>
        <p:spPr>
          <a:xfrm>
            <a:off x="457200" y="1737360"/>
            <a:ext cx="4023360" cy="621792"/>
          </a:xfrm>
          <a:prstGeom prst="rect">
            <a:avLst/>
          </a:prstGeom>
          <a:solidFill>
            <a:schemeClr val="bg1"/>
          </a:solidFill>
          <a:ln w="9525">
            <a:solidFill>
              <a:srgbClr val="D9E1E8"/>
            </a:solidFill>
            <a:prstDash val="solid"/>
          </a:ln>
        </p:spPr>
      </p:sp>
      <p:sp>
        <p:nvSpPr>
          <p:cNvPr id="12" name="Number 3"/>
          <p:cNvSpPr/>
          <p:nvPr/>
        </p:nvSpPr>
        <p:spPr>
          <a:xfrm>
            <a:off x="566928" y="1865376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66928" y="18653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1828800"/>
            <a:ext cx="3337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Correct column names and text</a:t>
            </a:r>
            <a:endParaRPr lang="en-US" sz="1250" dirty="0"/>
          </a:p>
        </p:txBody>
      </p:sp>
      <p:sp>
        <p:nvSpPr>
          <p:cNvPr id="15" name="Step 4"/>
          <p:cNvSpPr/>
          <p:nvPr/>
        </p:nvSpPr>
        <p:spPr>
          <a:xfrm>
            <a:off x="4663440" y="1737360"/>
            <a:ext cx="4023360" cy="621792"/>
          </a:xfrm>
          <a:prstGeom prst="rect">
            <a:avLst/>
          </a:prstGeom>
          <a:solidFill>
            <a:schemeClr val="bg1"/>
          </a:solidFill>
          <a:ln w="9525">
            <a:solidFill>
              <a:srgbClr val="D9E1E8"/>
            </a:solidFill>
            <a:prstDash val="solid"/>
          </a:ln>
        </p:spPr>
      </p:sp>
      <p:sp>
        <p:nvSpPr>
          <p:cNvPr id="16" name="Number 4"/>
          <p:cNvSpPr/>
          <p:nvPr/>
        </p:nvSpPr>
        <p:spPr>
          <a:xfrm>
            <a:off x="4773168" y="1865376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773168" y="18653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257800" y="1828800"/>
            <a:ext cx="3337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Convert data types</a:t>
            </a:r>
            <a:endParaRPr lang="en-US" sz="1250" dirty="0"/>
          </a:p>
        </p:txBody>
      </p:sp>
      <p:sp>
        <p:nvSpPr>
          <p:cNvPr id="19" name="Step 5"/>
          <p:cNvSpPr/>
          <p:nvPr/>
        </p:nvSpPr>
        <p:spPr>
          <a:xfrm>
            <a:off x="457200" y="2468880"/>
            <a:ext cx="4023360" cy="621792"/>
          </a:xfrm>
          <a:prstGeom prst="rect">
            <a:avLst/>
          </a:prstGeom>
          <a:solidFill>
            <a:schemeClr val="bg1"/>
          </a:solidFill>
          <a:ln w="9525">
            <a:solidFill>
              <a:srgbClr val="D9E1E8"/>
            </a:solidFill>
            <a:prstDash val="solid"/>
          </a:ln>
        </p:spPr>
      </p:sp>
      <p:sp>
        <p:nvSpPr>
          <p:cNvPr id="20" name="Number 5"/>
          <p:cNvSpPr/>
          <p:nvPr/>
        </p:nvSpPr>
        <p:spPr>
          <a:xfrm>
            <a:off x="566928" y="2596896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66928" y="25968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051560" y="2560320"/>
            <a:ext cx="3337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Detect and treat missing values</a:t>
            </a:r>
            <a:endParaRPr lang="en-US" sz="1250" dirty="0"/>
          </a:p>
        </p:txBody>
      </p:sp>
      <p:sp>
        <p:nvSpPr>
          <p:cNvPr id="23" name="Step 6"/>
          <p:cNvSpPr/>
          <p:nvPr/>
        </p:nvSpPr>
        <p:spPr>
          <a:xfrm>
            <a:off x="4663440" y="2468880"/>
            <a:ext cx="4023360" cy="621792"/>
          </a:xfrm>
          <a:prstGeom prst="rect">
            <a:avLst/>
          </a:prstGeom>
          <a:solidFill>
            <a:schemeClr val="bg1"/>
          </a:solidFill>
          <a:ln w="9525">
            <a:solidFill>
              <a:srgbClr val="D9E1E8"/>
            </a:solidFill>
            <a:prstDash val="solid"/>
          </a:ln>
        </p:spPr>
      </p:sp>
      <p:sp>
        <p:nvSpPr>
          <p:cNvPr id="24" name="Number 6"/>
          <p:cNvSpPr/>
          <p:nvPr/>
        </p:nvSpPr>
        <p:spPr>
          <a:xfrm>
            <a:off x="4773168" y="2596896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773168" y="25968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5257800" y="2560320"/>
            <a:ext cx="3337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Check duplicates</a:t>
            </a:r>
            <a:endParaRPr lang="en-US" sz="1250" dirty="0"/>
          </a:p>
        </p:txBody>
      </p:sp>
      <p:sp>
        <p:nvSpPr>
          <p:cNvPr id="27" name="Step 7"/>
          <p:cNvSpPr/>
          <p:nvPr/>
        </p:nvSpPr>
        <p:spPr>
          <a:xfrm>
            <a:off x="457200" y="3200400"/>
            <a:ext cx="4023360" cy="621792"/>
          </a:xfrm>
          <a:prstGeom prst="rect">
            <a:avLst/>
          </a:prstGeom>
          <a:solidFill>
            <a:schemeClr val="bg1"/>
          </a:solidFill>
          <a:ln w="9525">
            <a:solidFill>
              <a:srgbClr val="D9E1E8"/>
            </a:solidFill>
            <a:prstDash val="solid"/>
          </a:ln>
        </p:spPr>
      </p:sp>
      <p:sp>
        <p:nvSpPr>
          <p:cNvPr id="28" name="Number 7"/>
          <p:cNvSpPr/>
          <p:nvPr/>
        </p:nvSpPr>
        <p:spPr>
          <a:xfrm>
            <a:off x="566928" y="3328416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66928" y="33284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7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1051560" y="3291840"/>
            <a:ext cx="3337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Detect outliers (IQR)</a:t>
            </a:r>
            <a:endParaRPr lang="en-US" sz="1250" dirty="0"/>
          </a:p>
        </p:txBody>
      </p:sp>
      <p:sp>
        <p:nvSpPr>
          <p:cNvPr id="31" name="Step 8"/>
          <p:cNvSpPr/>
          <p:nvPr/>
        </p:nvSpPr>
        <p:spPr>
          <a:xfrm>
            <a:off x="4663440" y="3200400"/>
            <a:ext cx="4023360" cy="621792"/>
          </a:xfrm>
          <a:prstGeom prst="rect">
            <a:avLst/>
          </a:prstGeom>
          <a:solidFill>
            <a:schemeClr val="bg1"/>
          </a:solidFill>
          <a:ln w="9525">
            <a:solidFill>
              <a:srgbClr val="D9E1E8"/>
            </a:solidFill>
            <a:prstDash val="solid"/>
          </a:ln>
        </p:spPr>
      </p:sp>
      <p:sp>
        <p:nvSpPr>
          <p:cNvPr id="32" name="Number 8"/>
          <p:cNvSpPr/>
          <p:nvPr/>
        </p:nvSpPr>
        <p:spPr>
          <a:xfrm>
            <a:off x="4773168" y="3328416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773168" y="33284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8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5257800" y="3291840"/>
            <a:ext cx="3337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Univariate analysis</a:t>
            </a:r>
            <a:endParaRPr lang="en-US" sz="1250" dirty="0"/>
          </a:p>
        </p:txBody>
      </p:sp>
      <p:sp>
        <p:nvSpPr>
          <p:cNvPr id="35" name="Step 9"/>
          <p:cNvSpPr/>
          <p:nvPr/>
        </p:nvSpPr>
        <p:spPr>
          <a:xfrm>
            <a:off x="457200" y="3931920"/>
            <a:ext cx="4023360" cy="621792"/>
          </a:xfrm>
          <a:prstGeom prst="rect">
            <a:avLst/>
          </a:prstGeom>
          <a:solidFill>
            <a:schemeClr val="bg1"/>
          </a:solidFill>
          <a:ln w="9525">
            <a:solidFill>
              <a:srgbClr val="D9E1E8"/>
            </a:solidFill>
            <a:prstDash val="solid"/>
          </a:ln>
        </p:spPr>
      </p:sp>
      <p:sp>
        <p:nvSpPr>
          <p:cNvPr id="36" name="Number 9"/>
          <p:cNvSpPr/>
          <p:nvPr/>
        </p:nvSpPr>
        <p:spPr>
          <a:xfrm>
            <a:off x="566928" y="4059936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566928" y="40599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9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1051560" y="4023360"/>
            <a:ext cx="3337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Bivariate analysis</a:t>
            </a:r>
            <a:endParaRPr lang="en-US" sz="1250" dirty="0"/>
          </a:p>
        </p:txBody>
      </p:sp>
      <p:sp>
        <p:nvSpPr>
          <p:cNvPr id="39" name="Step 10"/>
          <p:cNvSpPr/>
          <p:nvPr/>
        </p:nvSpPr>
        <p:spPr>
          <a:xfrm>
            <a:off x="4663440" y="3931920"/>
            <a:ext cx="4023360" cy="621792"/>
          </a:xfrm>
          <a:prstGeom prst="rect">
            <a:avLst/>
          </a:prstGeom>
          <a:solidFill>
            <a:schemeClr val="bg1"/>
          </a:solidFill>
          <a:ln w="9525">
            <a:solidFill>
              <a:srgbClr val="D9E1E8"/>
            </a:solidFill>
            <a:prstDash val="solid"/>
          </a:ln>
        </p:spPr>
      </p:sp>
      <p:sp>
        <p:nvSpPr>
          <p:cNvPr id="40" name="Number 10"/>
          <p:cNvSpPr/>
          <p:nvPr/>
        </p:nvSpPr>
        <p:spPr>
          <a:xfrm>
            <a:off x="4773168" y="4059936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4773168" y="40599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10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5257800" y="4023360"/>
            <a:ext cx="3337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Group-by and multivariate analysis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Step 1: Import libraries and load the data</a:t>
            </a:r>
            <a:endParaRPr lang="en-US" sz="2200" dirty="0"/>
          </a:p>
        </p:txBody>
      </p:sp>
      <p:sp>
        <p:nvSpPr>
          <p:cNvPr id="3" name="Code block"/>
          <p:cNvSpPr/>
          <p:nvPr/>
        </p:nvSpPr>
        <p:spPr>
          <a:xfrm>
            <a:off x="457200" y="1005840"/>
            <a:ext cx="5120640" cy="210312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097280"/>
            <a:ext cx="48463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numpy as np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pandas as pd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matplotlib.pyplot as plt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= pd.read_csv("sales_data.csv")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print("data read successfully")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data.copy()   # work on a copy, keep raw data safe</a:t>
            </a:r>
            <a:endParaRPr lang="en-US" sz="1100" dirty="0"/>
          </a:p>
        </p:txBody>
      </p:sp>
      <p:sp>
        <p:nvSpPr>
          <p:cNvPr id="5" name="Notes card"/>
          <p:cNvSpPr/>
          <p:nvPr/>
        </p:nvSpPr>
        <p:spPr>
          <a:xfrm>
            <a:off x="5760720" y="1005840"/>
            <a:ext cx="2926080" cy="3108960"/>
          </a:xfrm>
          <a:prstGeom prst="rect">
            <a:avLst/>
          </a:prstGeom>
          <a:solidFill>
            <a:schemeClr val="bg1"/>
          </a:solidFill>
          <a:ln w="9525">
            <a:solidFill>
              <a:srgbClr val="D9E1E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897880" y="10972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What it does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897880" y="1417320"/>
            <a:ext cx="26517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Loads the CSV into a DataFrame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Keeps the original in data and cleans a copy in df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897880" y="3200400"/>
            <a:ext cx="2651760" cy="18288"/>
          </a:xfrm>
          <a:prstGeom prst="rect">
            <a:avLst/>
          </a:prstGeom>
          <a:solidFill>
            <a:srgbClr val="D9E1E8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897880" y="327355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Result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897880" y="35204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1,000 rows x 9 columns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329184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Fields: Order_ID, Order_Date, Customer_Name, City, Category, Product, Quantity, Unit_Price, Discount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Step 2: Understand the data</a:t>
            </a:r>
            <a:endParaRPr lang="en-US" sz="2200" dirty="0"/>
          </a:p>
        </p:txBody>
      </p:sp>
      <p:sp>
        <p:nvSpPr>
          <p:cNvPr id="3" name="Code block"/>
          <p:cNvSpPr/>
          <p:nvPr/>
        </p:nvSpPr>
        <p:spPr>
          <a:xfrm>
            <a:off x="457200" y="1005840"/>
            <a:ext cx="5120640" cy="356616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097280"/>
            <a:ext cx="48463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df.head()          # first 5 rows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df.tail()          # last 5 rows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df.shape           # (1000, 9)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df.info()          # dtypes and non-null counts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df.describe()      # numeric summary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df.describe(include="object")  # text columns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df.dtypes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df.columns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e in df.columns: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print("\n---", e, "---")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print("unique:", df[e].nunique(dropna=True))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print(df[e].value_counts(dropna=False).head(5))</a:t>
            </a:r>
            <a:endParaRPr lang="en-US" sz="1000" dirty="0"/>
          </a:p>
        </p:txBody>
      </p:sp>
      <p:sp>
        <p:nvSpPr>
          <p:cNvPr id="5" name="Notes card"/>
          <p:cNvSpPr/>
          <p:nvPr/>
        </p:nvSpPr>
        <p:spPr>
          <a:xfrm>
            <a:off x="5760720" y="1005840"/>
            <a:ext cx="2926080" cy="3566160"/>
          </a:xfrm>
          <a:prstGeom prst="rect">
            <a:avLst/>
          </a:prstGeom>
          <a:solidFill>
            <a:schemeClr val="bg1"/>
          </a:solidFill>
          <a:ln w="9525">
            <a:solidFill>
              <a:srgbClr val="D9E1E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897880" y="10972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What we learned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897880" y="1417320"/>
            <a:ext cx="265176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Quantity runs 0 to 75; mean 4.2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Unit_Price loaded as text (str)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Missing: Customer_Name, City, Discount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988 unique Order_IDs for 1,000 rows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City has 40 unique values; Category 5; Product 20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897880" y="3657600"/>
            <a:ext cx="2651760" cy="18288"/>
          </a:xfrm>
          <a:prstGeom prst="rect">
            <a:avLst/>
          </a:prstGeom>
          <a:solidFill>
            <a:srgbClr val="D9E1E8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897880" y="373075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Result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897880" y="39776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Several columns need fixing before analysis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Step 3: Correct column names and text</a:t>
            </a:r>
            <a:endParaRPr lang="en-US" sz="2200" dirty="0"/>
          </a:p>
        </p:txBody>
      </p:sp>
      <p:sp>
        <p:nvSpPr>
          <p:cNvPr id="3" name="Code block"/>
          <p:cNvSpPr/>
          <p:nvPr/>
        </p:nvSpPr>
        <p:spPr>
          <a:xfrm>
            <a:off x="457200" y="1005840"/>
            <a:ext cx="5120640" cy="251460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097280"/>
            <a:ext cx="484632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standardise column names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df.columns = (df.columns.str.strip().str.lower()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.str.replace(r"[^a-z0-9]+", "_", regex=True))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trim spaces in every text column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c in df.select_dtypes(include=["object","string"]).columns: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df[c] = df[c].astype("string").str.strip()</a:t>
            </a:r>
            <a:endParaRPr lang="en-US" sz="1000" dirty="0"/>
          </a:p>
        </p:txBody>
      </p:sp>
      <p:sp>
        <p:nvSpPr>
          <p:cNvPr id="5" name="Code block"/>
          <p:cNvSpPr/>
          <p:nvPr/>
        </p:nvSpPr>
        <p:spPr>
          <a:xfrm>
            <a:off x="457200" y="3657600"/>
            <a:ext cx="5120640" cy="91440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374904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Recommended addition (not yet in the notebook)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df["city"] = df["city"].str.title()   # fixes "PUNE", "jaipur"</a:t>
            </a:r>
            <a:endParaRPr lang="en-US" sz="1000" dirty="0"/>
          </a:p>
        </p:txBody>
      </p:sp>
      <p:sp>
        <p:nvSpPr>
          <p:cNvPr id="7" name="Notes card"/>
          <p:cNvSpPr/>
          <p:nvPr/>
        </p:nvSpPr>
        <p:spPr>
          <a:xfrm>
            <a:off x="5760720" y="1005840"/>
            <a:ext cx="2926080" cy="3566160"/>
          </a:xfrm>
          <a:prstGeom prst="rect">
            <a:avLst/>
          </a:prstGeom>
          <a:solidFill>
            <a:schemeClr val="bg1"/>
          </a:solidFill>
          <a:ln w="9525">
            <a:solidFill>
              <a:srgbClr val="D9E1E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897880" y="10972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What it does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897880" y="1417320"/>
            <a:ext cx="265176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Column names become order_id, order_date, unit_price and so on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Strips leading and trailing spaces from text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The recommended line unifies city casing, which reduces the 40 city labels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897880" y="3657600"/>
            <a:ext cx="2651760" cy="18288"/>
          </a:xfrm>
          <a:prstGeom prst="rect">
            <a:avLst/>
          </a:prstGeom>
          <a:solidFill>
            <a:srgbClr val="D9E1E8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897880" y="373075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Result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897880" y="39776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Clean, consistent names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Step 4: Convert data types</a:t>
            </a:r>
            <a:endParaRPr lang="en-US" sz="2200" dirty="0"/>
          </a:p>
        </p:txBody>
      </p:sp>
      <p:sp>
        <p:nvSpPr>
          <p:cNvPr id="3" name="Code block"/>
          <p:cNvSpPr/>
          <p:nvPr/>
        </p:nvSpPr>
        <p:spPr>
          <a:xfrm>
            <a:off x="457200" y="1005840"/>
            <a:ext cx="5120640" cy="210312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097280"/>
            <a:ext cx="48463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df["order_date"] = pd.to_datetime(df["order_date"],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errors="coerce")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c in ["quantity", "unit_price", "discount"]: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df[c] = pd.to_numeric(df[c], errors="coerce")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df.dtypes</a:t>
            </a:r>
            <a:endParaRPr lang="en-US" sz="1050" dirty="0"/>
          </a:p>
        </p:txBody>
      </p:sp>
      <p:sp>
        <p:nvSpPr>
          <p:cNvPr id="5" name="Notes card"/>
          <p:cNvSpPr/>
          <p:nvPr/>
        </p:nvSpPr>
        <p:spPr>
          <a:xfrm>
            <a:off x="5760720" y="1005840"/>
            <a:ext cx="2926080" cy="3108960"/>
          </a:xfrm>
          <a:prstGeom prst="rect">
            <a:avLst/>
          </a:prstGeom>
          <a:solidFill>
            <a:schemeClr val="bg1"/>
          </a:solidFill>
          <a:ln w="9525">
            <a:solidFill>
              <a:srgbClr val="D9E1E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897880" y="10972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What it does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897880" y="1417320"/>
            <a:ext cx="26517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Dates become real datetimes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unit_price becomes float64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errors="coerce" turns bad values into NaN so they can be treated next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897880" y="3200400"/>
            <a:ext cx="2651760" cy="18288"/>
          </a:xfrm>
          <a:prstGeom prst="rect">
            <a:avLst/>
          </a:prstGeom>
          <a:solidFill>
            <a:srgbClr val="D9E1E8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897880" y="327355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Result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897880" y="35204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order_date: datetime64; unit_price: float64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Step 5: Detect and treat missing values</a:t>
            </a:r>
            <a:endParaRPr lang="en-US" sz="2200" dirty="0"/>
          </a:p>
        </p:txBody>
      </p:sp>
      <p:sp>
        <p:nvSpPr>
          <p:cNvPr id="3" name="Code block"/>
          <p:cNvSpPr/>
          <p:nvPr/>
        </p:nvSpPr>
        <p:spPr>
          <a:xfrm>
            <a:off x="457200" y="1005840"/>
            <a:ext cx="5120640" cy="356616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097280"/>
            <a:ext cx="48463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missing = pd.DataFrame({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"count": df.isna().sum(),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"percent": (df.isna().mean()*100).round(2)})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display(missing[missing["count"] &gt; 0])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df["discount"] = df["discount"].fillna(0)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df["unit_price"] = df["unit_price"].fillna(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df["unit_price"].median())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df.dropna(subset=["order_date"])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df["customer_name"] = df["customer_name"].fillna("Unknown")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df["city"] = df["city"].fillna("Unknown")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re-check: should show no missing values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df.isna().sum()</a:t>
            </a:r>
            <a:endParaRPr lang="en-US" sz="1000" dirty="0"/>
          </a:p>
        </p:txBody>
      </p:sp>
      <p:sp>
        <p:nvSpPr>
          <p:cNvPr id="5" name="Notes card"/>
          <p:cNvSpPr/>
          <p:nvPr/>
        </p:nvSpPr>
        <p:spPr>
          <a:xfrm>
            <a:off x="5760720" y="1005840"/>
            <a:ext cx="2926080" cy="3566160"/>
          </a:xfrm>
          <a:prstGeom prst="rect">
            <a:avLst/>
          </a:prstGeom>
          <a:solidFill>
            <a:schemeClr val="bg1"/>
          </a:solidFill>
          <a:ln w="9525">
            <a:solidFill>
              <a:srgbClr val="D9E1E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897880" y="10972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Missing before treatment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897880" y="1417320"/>
            <a:ext cx="265176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order_date: 20 (2.0%)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city: 18 (1.8%)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discount: 15 (1.5%)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unit_price: 12 (1.2%)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customer_name: 10 (1.0%)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897880" y="3657600"/>
            <a:ext cx="2651760" cy="18288"/>
          </a:xfrm>
          <a:prstGeom prst="rect">
            <a:avLst/>
          </a:prstGeom>
          <a:solidFill>
            <a:srgbClr val="D9E1E8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897880" y="373075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Result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897880" y="39776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980 rows left, 0 missing values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Steps 6 and 7: Duplicates and outliers</a:t>
            </a:r>
            <a:endParaRPr lang="en-US" sz="2200" dirty="0"/>
          </a:p>
        </p:txBody>
      </p:sp>
      <p:sp>
        <p:nvSpPr>
          <p:cNvPr id="3" name="Code block"/>
          <p:cNvSpPr/>
          <p:nvPr/>
        </p:nvSpPr>
        <p:spPr>
          <a:xfrm>
            <a:off x="457200" y="1005840"/>
            <a:ext cx="5120640" cy="356616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097280"/>
            <a:ext cx="48463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duplicates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print("duplicate rows:", df.duplicated().sum())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df.drop_duplicates().reset_index(drop=True)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outliers with the IQR rule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rows = []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c in df.select_dtypes(np.number):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q1, q3 = df[c].quantile([.25, .75])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iqr = q3 - q1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lo, hi = q1 - 1.5*iqr, q3 + 1.5*iqr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 = ((df[c] &lt; lo) | (df[c] &gt; hi)).sum()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rows.append([c, q1, q3, lo, hi, int(n),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round(n/len(df)*100, 2)])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display(pd.DataFrame(rows, columns=["column","q1","q3",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"lower","upper","outlier_count","outlier_percent"]))</a:t>
            </a:r>
            <a:endParaRPr lang="en-US" sz="950" dirty="0"/>
          </a:p>
        </p:txBody>
      </p:sp>
      <p:sp>
        <p:nvSpPr>
          <p:cNvPr id="5" name="Notes card"/>
          <p:cNvSpPr/>
          <p:nvPr/>
        </p:nvSpPr>
        <p:spPr>
          <a:xfrm>
            <a:off x="5760720" y="1005840"/>
            <a:ext cx="2926080" cy="3566160"/>
          </a:xfrm>
          <a:prstGeom prst="rect">
            <a:avLst/>
          </a:prstGeom>
          <a:solidFill>
            <a:schemeClr val="bg1"/>
          </a:solidFill>
          <a:ln w="9525">
            <a:solidFill>
              <a:srgbClr val="D9E1E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897880" y="10972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Findings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897880" y="1417320"/>
            <a:ext cx="265176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0 fully duplicate rows (but 12 repeated Order_IDs)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quantity: 21 outliers (2.16%)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unit_price: 79 outliers (8.14%)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discount: 0 outliers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Outliers were flagged, not removed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897880" y="3657600"/>
            <a:ext cx="2651760" cy="18288"/>
          </a:xfrm>
          <a:prstGeom prst="rect">
            <a:avLst/>
          </a:prstGeom>
          <a:solidFill>
            <a:srgbClr val="D9E1E8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897880" y="373075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Result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897880" y="39776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Keep outliers, but review quantity 0, 50, 75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Step 8: Univariate analysis</a:t>
            </a:r>
            <a:endParaRPr lang="en-US" sz="2200" dirty="0"/>
          </a:p>
        </p:txBody>
      </p:sp>
      <p:sp>
        <p:nvSpPr>
          <p:cNvPr id="3" name="Code block"/>
          <p:cNvSpPr/>
          <p:nvPr/>
        </p:nvSpPr>
        <p:spPr>
          <a:xfrm>
            <a:off x="457200" y="960120"/>
            <a:ext cx="8229600" cy="114300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051560"/>
            <a:ext cx="7955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c in df.select_dtypes(np.number):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plt.figure(figsize=(8,4)); plt.hist(df[c].dropna(), bins=30)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plt.title(c); plt.xlabel(c); plt.ylabel("Frequency"); plt.show()</a:t>
            </a:r>
            <a:endParaRPr lang="en-US" sz="1050" dirty="0"/>
          </a:p>
        </p:txBody>
      </p:sp>
      <p:sp>
        <p:nvSpPr>
          <p:cNvPr id="5" name="Card 0"/>
          <p:cNvSpPr/>
          <p:nvPr/>
        </p:nvSpPr>
        <p:spPr>
          <a:xfrm>
            <a:off x="457200" y="2240280"/>
            <a:ext cx="2651760" cy="2468880"/>
          </a:xfrm>
          <a:prstGeom prst="rect">
            <a:avLst/>
          </a:prstGeom>
          <a:solidFill>
            <a:schemeClr val="bg1"/>
          </a:solidFill>
          <a:ln w="9525">
            <a:solidFill>
              <a:srgbClr val="D9E1E8"/>
            </a:solidFill>
            <a:prstDash val="solid"/>
          </a:ln>
        </p:spPr>
      </p:sp>
      <p:pic>
        <p:nvPicPr>
          <p:cNvPr id="6" name="Image 0" descr="Quantity: mostly 1 to 6 units; 50 and 75 are outlier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331720"/>
            <a:ext cx="2468880" cy="138988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66928" y="3813048"/>
            <a:ext cx="24323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Quantity: mostly 1 to 6 units; 50 and 75 are outliers</a:t>
            </a:r>
            <a:endParaRPr lang="en-US" sz="1100" dirty="0"/>
          </a:p>
        </p:txBody>
      </p:sp>
      <p:sp>
        <p:nvSpPr>
          <p:cNvPr id="8" name="Card 1"/>
          <p:cNvSpPr/>
          <p:nvPr/>
        </p:nvSpPr>
        <p:spPr>
          <a:xfrm>
            <a:off x="3246120" y="2240280"/>
            <a:ext cx="2651760" cy="2468880"/>
          </a:xfrm>
          <a:prstGeom prst="rect">
            <a:avLst/>
          </a:prstGeom>
          <a:solidFill>
            <a:schemeClr val="bg1"/>
          </a:solidFill>
          <a:ln w="9525">
            <a:solidFill>
              <a:srgbClr val="D9E1E8"/>
            </a:solidFill>
            <a:prstDash val="solid"/>
          </a:ln>
        </p:spPr>
      </p:sp>
      <p:pic>
        <p:nvPicPr>
          <p:cNvPr id="9" name="Image 1" descr="Unit price: right-skewed, long tail to about ₹90,000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560" y="2331720"/>
            <a:ext cx="2468880" cy="138988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3355848" y="3813048"/>
            <a:ext cx="24323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Unit price: right-skewed, long tail to about ₹90,000</a:t>
            </a:r>
            <a:endParaRPr lang="en-US" sz="1100" dirty="0"/>
          </a:p>
        </p:txBody>
      </p:sp>
      <p:sp>
        <p:nvSpPr>
          <p:cNvPr id="11" name="Card 2"/>
          <p:cNvSpPr/>
          <p:nvPr/>
        </p:nvSpPr>
        <p:spPr>
          <a:xfrm>
            <a:off x="6035040" y="2240280"/>
            <a:ext cx="2651760" cy="2468880"/>
          </a:xfrm>
          <a:prstGeom prst="rect">
            <a:avLst/>
          </a:prstGeom>
          <a:solidFill>
            <a:schemeClr val="bg1"/>
          </a:solidFill>
          <a:ln w="9525">
            <a:solidFill>
              <a:srgbClr val="D9E1E8"/>
            </a:solidFill>
            <a:prstDash val="solid"/>
          </a:ln>
        </p:spPr>
      </p:sp>
      <p:pic>
        <p:nvPicPr>
          <p:cNvPr id="12" name="Image 2" descr="Discount: roughly even from 0% to 25%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2331720"/>
            <a:ext cx="2468880" cy="1389888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6144768" y="3813048"/>
            <a:ext cx="24323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Discount: roughly even from 0% to 25%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Step 9: Bivariate analysis</a:t>
            </a:r>
            <a:endParaRPr lang="en-US" sz="2200" dirty="0"/>
          </a:p>
        </p:txBody>
      </p:sp>
      <p:sp>
        <p:nvSpPr>
          <p:cNvPr id="3" name="Code block"/>
          <p:cNvSpPr/>
          <p:nvPr/>
        </p:nvSpPr>
        <p:spPr>
          <a:xfrm>
            <a:off x="457200" y="960120"/>
            <a:ext cx="8229600" cy="169164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051560"/>
            <a:ext cx="79552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pairs = [("unit_price","quantity"), ("unit_price","discount"),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("quantity","discount")]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x, y in pairs: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x in df.columns and y in df.columns: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plt.figure(figsize=(7,5))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plt.scatter(df[x], df[y], alpha=0.65)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plt.xlabel(x); plt.ylabel(y); plt.title(f"{y} vs {x}"); plt.show()</a:t>
            </a:r>
            <a:endParaRPr lang="en-US" sz="1000" dirty="0"/>
          </a:p>
        </p:txBody>
      </p:sp>
      <p:sp>
        <p:nvSpPr>
          <p:cNvPr id="5" name="Scatter card"/>
          <p:cNvSpPr/>
          <p:nvPr/>
        </p:nvSpPr>
        <p:spPr>
          <a:xfrm>
            <a:off x="457200" y="2788920"/>
            <a:ext cx="8229600" cy="1920240"/>
          </a:xfrm>
          <a:prstGeom prst="rect">
            <a:avLst/>
          </a:prstGeom>
          <a:solidFill>
            <a:schemeClr val="bg1"/>
          </a:solidFill>
          <a:ln w="9525">
            <a:solidFill>
              <a:srgbClr val="D9E1E8"/>
            </a:solidFill>
            <a:prstDash val="solid"/>
          </a:ln>
        </p:spPr>
      </p:sp>
      <p:pic>
        <p:nvPicPr>
          <p:cNvPr id="6" name="Image 0" descr="Scatter plot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852928"/>
            <a:ext cx="5486400" cy="140817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309360" y="301752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Quantity stays under about 10 at every price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No visible link between discount and price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No visible link between discount and quantity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43159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chemeClr val="accent3"/>
                </a:solidFill>
              </a:rPr>
              <a:t>The 50 and 75 unit orders are isolated outliers.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Step 10: Group-by and multivariate analysis</a:t>
            </a:r>
            <a:endParaRPr lang="en-US" sz="2200" dirty="0"/>
          </a:p>
        </p:txBody>
      </p:sp>
      <p:sp>
        <p:nvSpPr>
          <p:cNvPr id="3" name="Code block"/>
          <p:cNvSpPr/>
          <p:nvPr/>
        </p:nvSpPr>
        <p:spPr>
          <a:xfrm>
            <a:off x="457200" y="1005840"/>
            <a:ext cx="5120640" cy="356616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097280"/>
            <a:ext cx="48463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units sold per product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df.groupby("product")["quantity"].agg(["sum","mean","count"]) \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.sort_values("sum", ascending=False)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discount per product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df.groupby("product")["discount"].agg(["sum","mean","count"]) \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.sort_values("sum", ascending=False)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discount per order size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df.groupby("quantity")["discount"].agg(["sum","mean","count"]) \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.sort_values("sum", ascending=False)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city x category (multivariate)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dims = ["city", "category"]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df.groupby(dims)[["quantity","discount"]].sum() \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.sort_values("quantity").head(20)</a:t>
            </a:r>
            <a:endParaRPr lang="en-US" sz="950" dirty="0"/>
          </a:p>
        </p:txBody>
      </p:sp>
      <p:sp>
        <p:nvSpPr>
          <p:cNvPr id="5" name="Chart card"/>
          <p:cNvSpPr/>
          <p:nvPr/>
        </p:nvSpPr>
        <p:spPr>
          <a:xfrm>
            <a:off x="5760720" y="1005840"/>
            <a:ext cx="2926080" cy="3566160"/>
          </a:xfrm>
          <a:prstGeom prst="rect">
            <a:avLst/>
          </a:prstGeom>
          <a:solidFill>
            <a:schemeClr val="bg1"/>
          </a:solidFill>
          <a:ln w="9525">
            <a:solidFill>
              <a:srgbClr val="D9E1E8"/>
            </a:solidFill>
            <a:prstDash val="solid"/>
          </a:ln>
        </p:spPr>
      </p:sp>
      <p:graphicFrame>
        <p:nvGraphicFramePr>
          <p:cNvPr id="6" name="Chart 0" descr=""/>
          <p:cNvGraphicFramePr/>
          <p:nvPr/>
        </p:nvGraphicFramePr>
        <p:xfrm>
          <a:off x="5806440" y="1051560"/>
          <a:ext cx="283464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Key findings and next steps</a:t>
            </a:r>
            <a:endParaRPr lang="en-US" sz="2200" dirty="0"/>
          </a:p>
        </p:txBody>
      </p:sp>
      <p:sp>
        <p:nvSpPr>
          <p:cNvPr id="3" name="Findings"/>
          <p:cNvSpPr/>
          <p:nvPr/>
        </p:nvSpPr>
        <p:spPr>
          <a:xfrm>
            <a:off x="457200" y="1005840"/>
            <a:ext cx="4023360" cy="3383280"/>
          </a:xfrm>
          <a:prstGeom prst="rect">
            <a:avLst/>
          </a:prstGeom>
          <a:solidFill>
            <a:schemeClr val="bg1"/>
          </a:solidFill>
          <a:ln w="9525">
            <a:solidFill>
              <a:srgbClr val="D9E1E8"/>
            </a:solidFill>
            <a:prstDash val="solid"/>
          </a:ln>
        </p:spPr>
      </p:sp>
      <p:sp>
        <p:nvSpPr>
          <p:cNvPr id="4" name="Findings header"/>
          <p:cNvSpPr/>
          <p:nvPr/>
        </p:nvSpPr>
        <p:spPr>
          <a:xfrm>
            <a:off x="457200" y="1005840"/>
            <a:ext cx="4023360" cy="4572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0058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Key findings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600200"/>
            <a:ext cx="365760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980 of 1,000 orders kept; 2% lost to missing dates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Rice and Jeans lead on units (306 and 294); Tablets, Microwaves and Laptops trail at about 130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Discounts average about 12% and are unrelated to price or order size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City has 40 labels because of spelling and case variants, so city results are not yet reliable</a:t>
            </a:r>
            <a:endParaRPr lang="en-US" sz="1200" dirty="0"/>
          </a:p>
        </p:txBody>
      </p:sp>
      <p:sp>
        <p:nvSpPr>
          <p:cNvPr id="7" name="Next steps"/>
          <p:cNvSpPr/>
          <p:nvPr/>
        </p:nvSpPr>
        <p:spPr>
          <a:xfrm>
            <a:off x="4663440" y="1005840"/>
            <a:ext cx="4023360" cy="3383280"/>
          </a:xfrm>
          <a:prstGeom prst="rect">
            <a:avLst/>
          </a:prstGeom>
          <a:solidFill>
            <a:schemeClr val="bg1"/>
          </a:solidFill>
          <a:ln w="9525">
            <a:solidFill>
              <a:srgbClr val="D9E1E8"/>
            </a:solidFill>
            <a:prstDash val="solid"/>
          </a:ln>
        </p:spPr>
      </p:sp>
      <p:sp>
        <p:nvSpPr>
          <p:cNvPr id="8" name="Next steps header"/>
          <p:cNvSpPr/>
          <p:nvPr/>
        </p:nvSpPr>
        <p:spPr>
          <a:xfrm>
            <a:off x="4663440" y="1005840"/>
            <a:ext cx="4023360" cy="4572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46320" y="10058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Next steps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846320" y="1600200"/>
            <a:ext cx="365760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Standardise city text (the str.title() line on step 3)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Check the 12 repeated Order_IDs and quantity 0, 50, 75 rows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Add revenue = quantity x unit_price x (1 - discount/100) and analyse by category, month and city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Re-test filling missing discounts with the median instead of 0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alesEDA">
  <a:themeElements>
    <a:clrScheme name="SalesEDA">
      <a:dk1>
        <a:srgbClr val="1F2937"/>
      </a:dk1>
      <a:lt1>
        <a:srgbClr val="FFFFFF"/>
      </a:lt1>
      <a:dk2>
        <a:srgbClr val="0F3D5E"/>
      </a:dk2>
      <a:lt2>
        <a:srgbClr val="F3F6F9"/>
      </a:lt2>
      <a:accent1>
        <a:srgbClr val="0F766E"/>
      </a:accent1>
      <a:accent2>
        <a:srgbClr val="F59E0B"/>
      </a:accent2>
      <a:accent3>
        <a:srgbClr val="64748B"/>
      </a:accent3>
      <a:accent4>
        <a:srgbClr val="2563EB"/>
      </a:accent4>
      <a:accent5>
        <a:srgbClr val="DC2626"/>
      </a:accent5>
      <a:accent6>
        <a:srgbClr val="7C3AED"/>
      </a:accent6>
      <a:hlink>
        <a:srgbClr val="2563EB"/>
      </a:hlink>
      <a:folHlink>
        <a:srgbClr val="7C3AED"/>
      </a:folHlink>
    </a:clrScheme>
    <a:fontScheme name="SalesEDA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2026-10-14T04:26:51Z</dcterms:created>
  <dcterms:modified xsi:type="dcterms:W3CDTF">2026-10-14T04:26:51Z</dcterms:modified>
</cp:coreProperties>
</file>